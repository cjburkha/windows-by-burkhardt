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sp>
        <p:nvSpPr>
          <p:cNvPr id="1" name="Rectangle 0"/>
          <p:cNvSpPr/>
          <p:nvPr/>
        </p:nvSpPr>
        <p:spPr>
          <a:xfrm rot="900000">
            <a:off x="5943600" y="-914400"/>
            <a:ext cx="4572000" cy="9144000"/>
          </a:xfrm>
          <a:prstGeom prst="rect">
            <a:avLst/>
          </a:prstGeom>
          <a:solidFill>
            <a:srgbClr val="0D1F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914400" y="2377440"/>
            <a:ext cx="1097280" cy="1097280"/>
          </a:xfrm>
          <a:prstGeom prst="rect">
            <a:avLst/>
          </a:prstGeom>
          <a:noFill/>
          <a:ln w="317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16936"/>
            <a:ext cx="1097280" cy="18288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53896" y="2377440"/>
            <a:ext cx="18288" cy="109728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331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D1D"/>
                </a:solidFill>
                <a:latin typeface="Calibri"/>
              </a:rPr>
              <a:t>Apex Energy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83464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Lead Generation
Reactivation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Calibri"/>
              </a:rPr>
              <a:t>Milwaukee  •  Madison  •  Seattle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4-Week Pilot Program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Calibri"/>
              </a:rPr>
              <a:t>Drip Campaign Proposal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228600" y="201168"/>
            <a:ext cx="502920" cy="502920"/>
          </a:xfrm>
          <a:prstGeom prst="rect">
            <a:avLst/>
          </a:prstGeom>
          <a:noFill/>
          <a:ln w="317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443484"/>
            <a:ext cx="502920" cy="18288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0916" y="201168"/>
            <a:ext cx="18288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Campaign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"/>
            <a:ext cx="45720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76BD1D"/>
                </a:solidFill>
                <a:latin typeface="Calibri"/>
              </a:rPr>
              <a:t>▶  </a:t>
            </a:r>
            <a:r>
              <a:rPr sz="1300">
                <a:solidFill>
                  <a:srgbClr val="AAAAAA"/>
                </a:solidFill>
                <a:latin typeface="Calibri"/>
              </a:rPr>
              <a:t>Reactivate dormant leads into active opportunities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76BD1D"/>
                </a:solidFill>
                <a:latin typeface="Calibri"/>
              </a:rPr>
              <a:t>▶  </a:t>
            </a:r>
            <a:r>
              <a:rPr sz="1300">
                <a:solidFill>
                  <a:srgbClr val="AAAAAA"/>
                </a:solidFill>
                <a:latin typeface="Calibri"/>
              </a:rPr>
              <a:t>Create consistent pipeline generation across all markets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76BD1D"/>
                </a:solidFill>
                <a:latin typeface="Calibri"/>
              </a:rPr>
              <a:t>▶  </a:t>
            </a:r>
            <a:r>
              <a:rPr sz="1300">
                <a:solidFill>
                  <a:srgbClr val="AAAAAA"/>
                </a:solidFill>
                <a:latin typeface="Calibri"/>
              </a:rPr>
              <a:t>Segment campaigns: Existing, Canceled, and Prospect leads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76BD1D"/>
                </a:solidFill>
                <a:latin typeface="Calibri"/>
              </a:rPr>
              <a:t>▶  </a:t>
            </a:r>
            <a:r>
              <a:rPr sz="1300">
                <a:solidFill>
                  <a:srgbClr val="AAAAAA"/>
                </a:solidFill>
                <a:latin typeface="Calibri"/>
              </a:rPr>
              <a:t>Drive qualified consultations through automated follow-up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76BD1D"/>
                </a:solidFill>
                <a:latin typeface="Calibri"/>
              </a:rPr>
              <a:t>▶  </a:t>
            </a:r>
            <a:r>
              <a:rPr sz="1300">
                <a:solidFill>
                  <a:srgbClr val="AAAAAA"/>
                </a:solidFill>
                <a:latin typeface="Calibri"/>
              </a:rPr>
              <a:t>Build brand recall and trust over a structured 4-week cadence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6BD1D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Markets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5394960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5440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6BD1D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989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Weeks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5394960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5440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6BD1D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989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Lead Segments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5394960"/>
            <a:ext cx="19202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440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6BD1D"/>
                </a:solidFill>
                <a:latin typeface="Calibri"/>
              </a:rPr>
              <a:t>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989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Scalable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Drip Campaign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228600" y="201168"/>
            <a:ext cx="502920" cy="502920"/>
          </a:xfrm>
          <a:prstGeom prst="rect">
            <a:avLst/>
          </a:prstGeom>
          <a:noFill/>
          <a:ln w="317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443484"/>
            <a:ext cx="502920" cy="18288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0916" y="201168"/>
            <a:ext cx="18288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Campaign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"/>
            <a:ext cx="45720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6BD1D"/>
                </a:solidFill>
                <a:latin typeface="Calibr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435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Landing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9105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Localized pages for Milwaukee, Madison, and Seattle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82296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6BD1D"/>
                </a:solidFill>
                <a:latin typeface="Calibri"/>
              </a:rPr>
              <a:t>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494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9689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Sent from Managing Sales Partner — personalized per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37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6BD1D"/>
                </a:solidFill>
                <a:latin typeface="Calibri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552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60273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Localized reply routing to the correct regional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82296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43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6BD1D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61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0857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Full tracking: open rates, clicks, conversion per segment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12080"/>
            <a:ext cx="82296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49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6BD1D"/>
                </a:solidFill>
                <a:latin typeface="Calibri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669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61441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Triggered sequences based on lead status and engagement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Drip Campaign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228600" y="201168"/>
            <a:ext cx="502920" cy="502920"/>
          </a:xfrm>
          <a:prstGeom prst="rect">
            <a:avLst/>
          </a:prstGeom>
          <a:noFill/>
          <a:ln w="317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443484"/>
            <a:ext cx="502920" cy="18288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0916" y="201168"/>
            <a:ext cx="18288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BD1D"/>
                </a:solidFill>
                <a:latin typeface="Calibri"/>
              </a:rPr>
              <a:t>Platform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GoHighLevel  —  Recommended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4592"/>
            <a:ext cx="45720" cy="77724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93192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D1D"/>
                </a:solidFill>
                <a:latin typeface="Calibri"/>
              </a:rPr>
              <a:t>✓  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3657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All-in-one CRM + SMS + Email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Strong automation workflows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Scales across all markets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Native landing page builder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188720"/>
            <a:ext cx="420624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29844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252"/>
                </a:solidFill>
                <a:latin typeface="Calibri"/>
              </a:rPr>
              <a:t>✗ 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645920"/>
            <a:ext cx="39319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Less polished email design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Setup complexity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Learning curve for new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486400"/>
            <a:ext cx="8412480" cy="640080"/>
          </a:xfrm>
          <a:prstGeom prst="rect">
            <a:avLst/>
          </a:prstGeom>
          <a:solidFill>
            <a:srgbClr val="0D1F04"/>
          </a:solidFill>
          <a:ln w="190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D1D"/>
                </a:solidFill>
                <a:latin typeface="Calibri"/>
              </a:rPr>
              <a:t>💰  Estimated Cost:  $100 – $300 /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Drip Campaign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228600" y="201168"/>
            <a:ext cx="502920" cy="502920"/>
          </a:xfrm>
          <a:prstGeom prst="rect">
            <a:avLst/>
          </a:prstGeom>
          <a:noFill/>
          <a:ln w="317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443484"/>
            <a:ext cx="502920" cy="18288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0916" y="201168"/>
            <a:ext cx="18288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BD1D"/>
                </a:solidFill>
                <a:latin typeface="Calibri"/>
              </a:rPr>
              <a:t>Platform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Mailchimp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4592"/>
            <a:ext cx="45720" cy="77724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93192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D1D"/>
                </a:solidFill>
                <a:latin typeface="Calibri"/>
              </a:rPr>
              <a:t>✓  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3657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Best-in-class email design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Fast deployment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Strong analytics + reporting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188720"/>
            <a:ext cx="420624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29844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252"/>
                </a:solidFill>
                <a:latin typeface="Calibri"/>
              </a:rPr>
              <a:t>✗ 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645920"/>
            <a:ext cx="39319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Limited SMS capabilities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Requires integrations for CRM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Not a full CRM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486400"/>
            <a:ext cx="8412480" cy="640080"/>
          </a:xfrm>
          <a:prstGeom prst="rect">
            <a:avLst/>
          </a:prstGeom>
          <a:solidFill>
            <a:srgbClr val="0D1F04"/>
          </a:solidFill>
          <a:ln w="190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D1D"/>
                </a:solidFill>
                <a:latin typeface="Calibri"/>
              </a:rPr>
              <a:t>💰  Estimated Cost:  $50 – $300 /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Drip Campaign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228600" y="201168"/>
            <a:ext cx="502920" cy="502920"/>
          </a:xfrm>
          <a:prstGeom prst="rect">
            <a:avLst/>
          </a:prstGeom>
          <a:noFill/>
          <a:ln w="317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443484"/>
            <a:ext cx="502920" cy="18288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0916" y="201168"/>
            <a:ext cx="18288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BD1D"/>
                </a:solidFill>
                <a:latin typeface="Calibri"/>
              </a:rPr>
              <a:t>Platform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Custom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4592"/>
            <a:ext cx="45720" cy="77724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93192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D1D"/>
                </a:solidFill>
                <a:latin typeface="Calibri"/>
              </a:rPr>
              <a:t>✓  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3657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Fully tailored to Apex workflows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Complete data ownership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Maximum flexibility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188720"/>
            <a:ext cx="420624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29844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252"/>
                </a:solidFill>
                <a:latin typeface="Calibri"/>
              </a:rPr>
              <a:t>✗ 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645920"/>
            <a:ext cx="39319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High upfront development cost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Long build time (3–6 months)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Calibri"/>
              </a:rPr>
              <a:t>› Ongoing maintenance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486400"/>
            <a:ext cx="8412480" cy="640080"/>
          </a:xfrm>
          <a:prstGeom prst="rect">
            <a:avLst/>
          </a:prstGeom>
          <a:solidFill>
            <a:srgbClr val="0D1F04"/>
          </a:solidFill>
          <a:ln w="190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D1D"/>
                </a:solidFill>
                <a:latin typeface="Calibri"/>
              </a:rPr>
              <a:t>💰  Estimated Cost:  $10,000 – $50,000+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Drip Campaign Proposal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228600" y="201168"/>
            <a:ext cx="502920" cy="502920"/>
          </a:xfrm>
          <a:prstGeom prst="rect">
            <a:avLst/>
          </a:prstGeom>
          <a:noFill/>
          <a:ln w="31750">
            <a:solidFill>
              <a:srgbClr val="76B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443484"/>
            <a:ext cx="502920" cy="18288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0916" y="201168"/>
            <a:ext cx="18288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"/>
            <a:ext cx="45720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252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Launch GoHighLevel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7276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Start with the recommended all-in-one platform to validate the campaign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21992"/>
            <a:ext cx="502920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854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Canceled Lead Campaign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3288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Target highest-ROI segment first — these leads already know the brand.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82112"/>
            <a:ext cx="502920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1821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1455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Measure ROI +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9300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Track results weekly: open rates, replies, booked consultations.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42232"/>
            <a:ext cx="502920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422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056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Add Facebook Ads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5312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Layer paid retargeting once organic sequences are optimized.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02352"/>
            <a:ext cx="502920" cy="502920"/>
          </a:xfrm>
          <a:prstGeom prst="rect">
            <a:avLst/>
          </a:prstGeom>
          <a:solidFill>
            <a:srgbClr val="76B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02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657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Expand to Additional Markets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41324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Roll out the proven playbook to Madison, Seattle, and beyond.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Drip Campaign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